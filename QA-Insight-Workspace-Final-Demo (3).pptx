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825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'Good [morning/afternoon], I'm Yashaswini. Today I'll walk you through the complete solution — not just the features, but the problem I was solving, how I designed and built it, and how I validated it. I'll follow the structure you asked for: problem, requirements, design, build, test, evidence, demo, and learnings.'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preview the 8-part structure so the panel knows what to expect and can track along. Keep this slide under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simple and plain-spoken: say the problem in your own words, state the objective in one line, then say what the solution actually does in plain terms — paste notes in, get a structured report out. Scope limits, assumptions, and what's out of scope are covered later, alongside reflection and limitations, so this slide stays focused purely on problem +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a user story and acceptance criteria are in one sentence if asked: 'A user story is the feature from the user's point of view; acceptance criteria are the specific Given/When/Then conditions that prove it's actually done.' Then explain the MoSCoW prioritization logic — say WHY guardrails were Must-have: a tool that fabricates bugs is worse than a tool that does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along the diagram: 'Browser is static, hosted on Vercel, holds nothing but session memory. It calls my FastAPI backend, which validates input and enforces a strict schema, then makes exactly one call to Groq's Qwen model.' State the CORS gap yourself before anyone asks — that's the move that reads as senior rather than caught-off-guard.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'how did you actually work, and did you just accept whatever the AI gave you.' Be specific about the keyword-trap test — it's your strongest evidence of genuinely validating rather than trusting AI output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risk behind a test, don't just list them: 'The guardrail tests exist because a false positive — treating junk text as real notes — would silently produce fake bug reports, which is worse than the tool doing nothing.' Mention the one real defect you hit during development if asked (swap in your actual example).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actual screenshots ready to show live here (pytest terminal, a guardrail rejection, the Postman/Swagger response) — this slide is the index, the real evidence should be visible on screen or in an appendix, not just described.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portion — actually switch to the running app here. Paste a real sample, click generate, walk through all 3 output sections, then deliberately paste the keyword-trap text and show the correct rejection — your strongest live moment. Then show export. State limitations yourself before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ownership statement verbatim if you can — it's the line most likely to be remembered.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line: 'Thank you — happy to answer questions.' If asked to see it again, or for anyone reviewing this deck afterward: the live app link is clickable above, and the full demo recording is embedded on this slide — double-click it to play in PowerPoint's presenter/slideshow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hyperlink" Target="https://testing-notes-summarizer.vercel.app/" TargetMode="Externa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testing-notes-summarizer-ctvz42nru-ecoeats-projects.vercel.app/" TargetMode="Externa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INSIGHT WORKSPACE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Exploratory Testing Notes Summarizer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17390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Yashaswini  |  Intact Green Services (IGS Global)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Walkthrough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end-to-end story — problem through learnings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91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&amp;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743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Breakdown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947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&amp; Architecture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02920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463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&amp; Execution Approach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169164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16916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55080" y="274320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292608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7432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Quality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55080" y="37947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397764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37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37947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55080" y="48463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33" name="Shape 31"/>
          <p:cNvSpPr/>
          <p:nvPr/>
        </p:nvSpPr>
        <p:spPr>
          <a:xfrm>
            <a:off x="6537960" y="502920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48463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Ownership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Insight Workspace  | Final Round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Problem Understanding &amp;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949440" cy="2606040"/>
          </a:xfrm>
          <a:prstGeom prst="roundRect">
            <a:avLst>
              <a:gd name="adj" fmla="val 2807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6400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testers freely explore an app and take rapid, unstructured notes. These notes catch what scripted tests miss — but turning them into an actionable report currently means manually rewriting everything, which is repetitive and often rushed or skipped.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6949440" cy="1463040"/>
          </a:xfrm>
          <a:prstGeom prst="roundRect">
            <a:avLst>
              <a:gd name="adj" fmla="val 5000"/>
            </a:avLst>
          </a:prstGeom>
          <a:solidFill>
            <a:srgbClr val="1724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8838" y="4434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time and inconsistency in turning sessions into shareable defect documentation.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26680" y="1188720"/>
            <a:ext cx="3886200" cy="4206240"/>
          </a:xfrm>
          <a:prstGeom prst="roundRect">
            <a:avLst>
              <a:gd name="adj" fmla="val 1882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18745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 your testing notes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turns them into a structured report</a:t>
            </a:r>
            <a:endParaRPr lang="en-US" sz="1350" dirty="0"/>
          </a:p>
          <a:p>
            <a:pPr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coverage summary, defect list, and open questions (with </a:t>
            </a:r>
            <a:r>
              <a:rPr lang="en-IN" sz="1350" dirty="0"/>
              <a:t>heuristic </a:t>
            </a:r>
            <a:r>
              <a:rPr lang="en-IN" sz="1350"/>
              <a:t>and severity)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PDF, Markdown, Text, or JSON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Insight Workspace  | Final Round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Requirement Breakdown — User Stories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the problem statement into 8 user stories, prioritized with MoSCoW: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548640" y="1417320"/>
            <a:ext cx="2697480" cy="2034540"/>
          </a:xfrm>
          <a:prstGeom prst="roundRect">
            <a:avLst>
              <a:gd name="adj" fmla="val 3596"/>
            </a:avLst>
          </a:prstGeom>
          <a:solidFill>
            <a:srgbClr val="F5F5F5"/>
          </a:solidFill>
          <a:ln/>
        </p:spPr>
      </p:sp>
      <p:sp>
        <p:nvSpPr>
          <p:cNvPr id="5" name="Shape 5"/>
          <p:cNvSpPr/>
          <p:nvPr/>
        </p:nvSpPr>
        <p:spPr>
          <a:xfrm>
            <a:off x="548640" y="1417320"/>
            <a:ext cx="2697480" cy="292608"/>
          </a:xfrm>
          <a:prstGeom prst="roundRect">
            <a:avLst>
              <a:gd name="adj" fmla="val 25000"/>
            </a:avLst>
          </a:prstGeom>
          <a:solidFill>
            <a:srgbClr val="172430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685800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US-1  •  Must</a:t>
            </a:r>
            <a:endParaRPr lang="en-US" sz="1100" dirty="0"/>
          </a:p>
        </p:txBody>
      </p:sp>
      <p:sp>
        <p:nvSpPr>
          <p:cNvPr id="7" name="Text 7"/>
          <p:cNvSpPr txBox="1"/>
          <p:nvPr/>
        </p:nvSpPr>
        <p:spPr>
          <a:xfrm>
            <a:off x="685800" y="1773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raw notes</a:t>
            </a:r>
            <a:endParaRPr lang="en-US" sz="1300" dirty="0"/>
          </a:p>
        </p:txBody>
      </p:sp>
      <p:sp>
        <p:nvSpPr>
          <p:cNvPr id="8" name="Text 8"/>
          <p:cNvSpPr txBox="1"/>
          <p:nvPr/>
        </p:nvSpPr>
        <p:spPr>
          <a:xfrm>
            <a:off x="685800" y="20482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QA tester, I want to paste raw notes and get a structured report, so I don't manually rewrite findings.</a:t>
            </a:r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685800" y="2687320"/>
            <a:ext cx="24231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0" name="Text 10"/>
          <p:cNvSpPr txBox="1"/>
          <p:nvPr/>
        </p:nvSpPr>
        <p:spPr>
          <a:xfrm>
            <a:off x="685800" y="27330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50" dirty="0"/>
          </a:p>
        </p:txBody>
      </p:sp>
      <p:sp>
        <p:nvSpPr>
          <p:cNvPr id="11" name="Text 11"/>
          <p:cNvSpPr txBox="1"/>
          <p:nvPr/>
        </p:nvSpPr>
        <p:spPr>
          <a:xfrm>
            <a:off x="685800" y="2915920"/>
            <a:ext cx="24231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valid notes + click Generate, then coverage summary + defects + open questions returned.</a:t>
            </a:r>
            <a:endParaRPr lang="en-US" sz="900" dirty="0"/>
          </a:p>
        </p:txBody>
      </p:sp>
      <p:sp>
        <p:nvSpPr>
          <p:cNvPr id="12" name="Shape 12"/>
          <p:cNvSpPr/>
          <p:nvPr/>
        </p:nvSpPr>
        <p:spPr>
          <a:xfrm>
            <a:off x="3383280" y="1417320"/>
            <a:ext cx="2697480" cy="2034540"/>
          </a:xfrm>
          <a:prstGeom prst="roundRect">
            <a:avLst>
              <a:gd name="adj" fmla="val 3596"/>
            </a:avLst>
          </a:prstGeom>
          <a:solidFill>
            <a:srgbClr val="F5F5F5"/>
          </a:solidFill>
          <a:ln/>
        </p:spPr>
      </p:sp>
      <p:sp>
        <p:nvSpPr>
          <p:cNvPr id="13" name="Shape 13"/>
          <p:cNvSpPr/>
          <p:nvPr/>
        </p:nvSpPr>
        <p:spPr>
          <a:xfrm>
            <a:off x="3383280" y="1417320"/>
            <a:ext cx="2697480" cy="292608"/>
          </a:xfrm>
          <a:prstGeom prst="roundRect">
            <a:avLst>
              <a:gd name="adj" fmla="val 25000"/>
            </a:avLst>
          </a:prstGeom>
          <a:solidFill>
            <a:srgbClr val="172430"/>
          </a:solidFill>
          <a:ln/>
        </p:spPr>
      </p:sp>
      <p:sp>
        <p:nvSpPr>
          <p:cNvPr id="14" name="Text 14"/>
          <p:cNvSpPr txBox="1"/>
          <p:nvPr/>
        </p:nvSpPr>
        <p:spPr>
          <a:xfrm>
            <a:off x="3520440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  •  Must</a:t>
            </a:r>
            <a:endParaRPr lang="en-US" sz="1100" dirty="0"/>
          </a:p>
        </p:txBody>
      </p:sp>
      <p:sp>
        <p:nvSpPr>
          <p:cNvPr id="15" name="Text 15"/>
          <p:cNvSpPr txBox="1"/>
          <p:nvPr/>
        </p:nvSpPr>
        <p:spPr>
          <a:xfrm>
            <a:off x="3520440" y="1773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non-testing input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3520440" y="20482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QA tester, I want irrelevant text rejected, so I never get fabricated bug reports.</a:t>
            </a:r>
            <a:endParaRPr lang="en-US" sz="1000" dirty="0"/>
          </a:p>
        </p:txBody>
      </p:sp>
      <p:sp>
        <p:nvSpPr>
          <p:cNvPr id="17" name="Shape 17"/>
          <p:cNvSpPr/>
          <p:nvPr/>
        </p:nvSpPr>
        <p:spPr>
          <a:xfrm>
            <a:off x="3520440" y="2687320"/>
            <a:ext cx="24231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8"/>
          <p:cNvSpPr txBox="1"/>
          <p:nvPr/>
        </p:nvSpPr>
        <p:spPr>
          <a:xfrm>
            <a:off x="3520440" y="27330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50" dirty="0"/>
          </a:p>
        </p:txBody>
      </p:sp>
      <p:sp>
        <p:nvSpPr>
          <p:cNvPr id="19" name="Text 19"/>
          <p:cNvSpPr txBox="1"/>
          <p:nvPr/>
        </p:nvSpPr>
        <p:spPr>
          <a:xfrm>
            <a:off x="3520440" y="2915920"/>
            <a:ext cx="24231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unrelated/keyword-trap text, then is_testing_notes=false, zero fabricated bugs.</a:t>
            </a:r>
            <a:endParaRPr lang="en-US" sz="900" dirty="0"/>
          </a:p>
        </p:txBody>
      </p:sp>
      <p:sp>
        <p:nvSpPr>
          <p:cNvPr id="20" name="Shape 20"/>
          <p:cNvSpPr/>
          <p:nvPr/>
        </p:nvSpPr>
        <p:spPr>
          <a:xfrm>
            <a:off x="6217920" y="1417320"/>
            <a:ext cx="2697480" cy="2034540"/>
          </a:xfrm>
          <a:prstGeom prst="roundRect">
            <a:avLst>
              <a:gd name="adj" fmla="val 3596"/>
            </a:avLst>
          </a:prstGeom>
          <a:solidFill>
            <a:srgbClr val="F5F5F5"/>
          </a:solidFill>
          <a:ln/>
        </p:spPr>
      </p:sp>
      <p:sp>
        <p:nvSpPr>
          <p:cNvPr id="21" name="Shape 21"/>
          <p:cNvSpPr/>
          <p:nvPr/>
        </p:nvSpPr>
        <p:spPr>
          <a:xfrm>
            <a:off x="6217920" y="1417320"/>
            <a:ext cx="2697480" cy="292608"/>
          </a:xfrm>
          <a:prstGeom prst="roundRect">
            <a:avLst>
              <a:gd name="adj" fmla="val 25000"/>
            </a:avLst>
          </a:prstGeom>
          <a:solidFill>
            <a:srgbClr val="172430"/>
          </a:solidFill>
          <a:ln/>
        </p:spPr>
      </p:sp>
      <p:sp>
        <p:nvSpPr>
          <p:cNvPr id="22" name="Text 22"/>
          <p:cNvSpPr txBox="1"/>
          <p:nvPr/>
        </p:nvSpPr>
        <p:spPr>
          <a:xfrm>
            <a:off x="6355080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US-3  •  Should</a:t>
            </a:r>
            <a:endParaRPr lang="en-US" sz="1100" dirty="0"/>
          </a:p>
        </p:txBody>
      </p:sp>
      <p:sp>
        <p:nvSpPr>
          <p:cNvPr id="23" name="Text 23"/>
          <p:cNvSpPr txBox="1"/>
          <p:nvPr/>
        </p:nvSpPr>
        <p:spPr>
          <a:xfrm>
            <a:off x="6355080" y="1773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coverage gaps</a:t>
            </a:r>
            <a:endParaRPr lang="en-US" sz="1300" dirty="0"/>
          </a:p>
        </p:txBody>
      </p:sp>
      <p:sp>
        <p:nvSpPr>
          <p:cNvPr id="24" name="Text 24"/>
          <p:cNvSpPr txBox="1"/>
          <p:nvPr/>
        </p:nvSpPr>
        <p:spPr>
          <a:xfrm>
            <a:off x="6355080" y="20482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QA tester, I want to see which areas my session missed, so I know what to test next.</a:t>
            </a:r>
            <a:endParaRPr lang="en-US" sz="1000" dirty="0"/>
          </a:p>
        </p:txBody>
      </p:sp>
      <p:sp>
        <p:nvSpPr>
          <p:cNvPr id="25" name="Shape 25"/>
          <p:cNvSpPr/>
          <p:nvPr/>
        </p:nvSpPr>
        <p:spPr>
          <a:xfrm>
            <a:off x="6355080" y="2687320"/>
            <a:ext cx="24231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6" name="Text 26"/>
          <p:cNvSpPr txBox="1"/>
          <p:nvPr/>
        </p:nvSpPr>
        <p:spPr>
          <a:xfrm>
            <a:off x="6355080" y="27330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50" dirty="0"/>
          </a:p>
        </p:txBody>
      </p:sp>
      <p:sp>
        <p:nvSpPr>
          <p:cNvPr id="27" name="Text 27"/>
          <p:cNvSpPr txBox="1"/>
          <p:nvPr/>
        </p:nvSpPr>
        <p:spPr>
          <a:xfrm>
            <a:off x="6355080" y="2915920"/>
            <a:ext cx="24231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partial coverage, then open questions + next-focus list shown (max 3 each); no invented gaps when coverage is complete.</a:t>
            </a:r>
            <a:endParaRPr lang="en-US" sz="900" dirty="0"/>
          </a:p>
        </p:txBody>
      </p:sp>
      <p:sp>
        <p:nvSpPr>
          <p:cNvPr id="28" name="Shape 28"/>
          <p:cNvSpPr/>
          <p:nvPr/>
        </p:nvSpPr>
        <p:spPr>
          <a:xfrm>
            <a:off x="9052560" y="1417320"/>
            <a:ext cx="2697480" cy="2034540"/>
          </a:xfrm>
          <a:prstGeom prst="roundRect">
            <a:avLst>
              <a:gd name="adj" fmla="val 3596"/>
            </a:avLst>
          </a:prstGeom>
          <a:solidFill>
            <a:srgbClr val="F5F5F5"/>
          </a:solidFill>
          <a:ln/>
        </p:spPr>
      </p:sp>
      <p:sp>
        <p:nvSpPr>
          <p:cNvPr id="29" name="Shape 29"/>
          <p:cNvSpPr/>
          <p:nvPr/>
        </p:nvSpPr>
        <p:spPr>
          <a:xfrm>
            <a:off x="9052560" y="1417320"/>
            <a:ext cx="2697480" cy="292608"/>
          </a:xfrm>
          <a:prstGeom prst="roundRect">
            <a:avLst>
              <a:gd name="adj" fmla="val 25000"/>
            </a:avLst>
          </a:prstGeom>
          <a:solidFill>
            <a:srgbClr val="172430"/>
          </a:solidFill>
          <a:ln/>
        </p:spPr>
      </p:sp>
      <p:sp>
        <p:nvSpPr>
          <p:cNvPr id="30" name="Text 30"/>
          <p:cNvSpPr txBox="1"/>
          <p:nvPr/>
        </p:nvSpPr>
        <p:spPr>
          <a:xfrm>
            <a:off x="9189720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  •  Could</a:t>
            </a:r>
            <a:endParaRPr lang="en-US" sz="1100" dirty="0"/>
          </a:p>
        </p:txBody>
      </p:sp>
      <p:sp>
        <p:nvSpPr>
          <p:cNvPr id="31" name="Text 31"/>
          <p:cNvSpPr txBox="1"/>
          <p:nvPr/>
        </p:nvSpPr>
        <p:spPr>
          <a:xfrm>
            <a:off x="9189720" y="17739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report</a:t>
            </a:r>
            <a:endParaRPr lang="en-US" sz="1300" dirty="0"/>
          </a:p>
        </p:txBody>
      </p:sp>
      <p:sp>
        <p:nvSpPr>
          <p:cNvPr id="32" name="Text 32"/>
          <p:cNvSpPr txBox="1"/>
          <p:nvPr/>
        </p:nvSpPr>
        <p:spPr>
          <a:xfrm>
            <a:off x="9189720" y="20482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QA tester, I want to export as PDF, Markdown, Text, or JSON, so I can share it or paste into Jira.</a:t>
            </a:r>
            <a:endParaRPr lang="en-US" sz="1000" dirty="0"/>
          </a:p>
        </p:txBody>
      </p:sp>
      <p:sp>
        <p:nvSpPr>
          <p:cNvPr id="33" name="Shape 33"/>
          <p:cNvSpPr/>
          <p:nvPr/>
        </p:nvSpPr>
        <p:spPr>
          <a:xfrm>
            <a:off x="9189720" y="2687320"/>
            <a:ext cx="24231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4" name="Text 34"/>
          <p:cNvSpPr txBox="1"/>
          <p:nvPr/>
        </p:nvSpPr>
        <p:spPr>
          <a:xfrm>
            <a:off x="9189720" y="27330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50" dirty="0"/>
          </a:p>
        </p:txBody>
      </p:sp>
      <p:sp>
        <p:nvSpPr>
          <p:cNvPr id="35" name="Text 35"/>
          <p:cNvSpPr txBox="1"/>
          <p:nvPr/>
        </p:nvSpPr>
        <p:spPr>
          <a:xfrm>
            <a:off x="9189720" y="2915920"/>
            <a:ext cx="24231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completed analysis, then the file reflects all 3 sections; given no analysis yet, export is blocked with a clear message.</a:t>
            </a:r>
            <a:endParaRPr lang="en-US" sz="900" dirty="0"/>
          </a:p>
        </p:txBody>
      </p:sp>
      <p:sp>
        <p:nvSpPr>
          <p:cNvPr id="36" name="Shape 36"/>
          <p:cNvSpPr/>
          <p:nvPr/>
        </p:nvSpPr>
        <p:spPr>
          <a:xfrm>
            <a:off x="548640" y="3589020"/>
            <a:ext cx="2697480" cy="2034540"/>
          </a:xfrm>
          <a:prstGeom prst="roundRect">
            <a:avLst>
              <a:gd name="adj" fmla="val 3596"/>
            </a:avLst>
          </a:prstGeom>
          <a:solidFill>
            <a:srgbClr val="F5F5F5"/>
          </a:solidFill>
          <a:ln/>
        </p:spPr>
      </p:sp>
      <p:sp>
        <p:nvSpPr>
          <p:cNvPr id="37" name="Shape 37"/>
          <p:cNvSpPr/>
          <p:nvPr/>
        </p:nvSpPr>
        <p:spPr>
          <a:xfrm>
            <a:off x="548640" y="3589020"/>
            <a:ext cx="2697480" cy="292608"/>
          </a:xfrm>
          <a:prstGeom prst="roundRect">
            <a:avLst>
              <a:gd name="adj" fmla="val 25000"/>
            </a:avLst>
          </a:prstGeom>
          <a:solidFill>
            <a:srgbClr val="172430"/>
          </a:solidFill>
          <a:ln/>
        </p:spPr>
      </p:sp>
      <p:sp>
        <p:nvSpPr>
          <p:cNvPr id="38" name="Text 38"/>
          <p:cNvSpPr txBox="1"/>
          <p:nvPr/>
        </p:nvSpPr>
        <p:spPr>
          <a:xfrm>
            <a:off x="685800" y="35890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US-5  •  Must</a:t>
            </a:r>
            <a:endParaRPr lang="en-US" sz="1100" dirty="0"/>
          </a:p>
        </p:txBody>
      </p:sp>
      <p:sp>
        <p:nvSpPr>
          <p:cNvPr id="39" name="Text 39"/>
          <p:cNvSpPr txBox="1"/>
          <p:nvPr/>
        </p:nvSpPr>
        <p:spPr>
          <a:xfrm>
            <a:off x="685800" y="39456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confidential data</a:t>
            </a:r>
            <a:endParaRPr lang="en-US" sz="1300" dirty="0"/>
          </a:p>
        </p:txBody>
      </p:sp>
      <p:sp>
        <p:nvSpPr>
          <p:cNvPr id="40" name="Text 40"/>
          <p:cNvSpPr txBox="1"/>
          <p:nvPr/>
        </p:nvSpPr>
        <p:spPr>
          <a:xfrm>
            <a:off x="685800" y="42199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QA lead on pre-release software, I want zero server-side storage, so data isn't exposed.</a:t>
            </a:r>
            <a:endParaRPr lang="en-US" sz="1000" dirty="0"/>
          </a:p>
        </p:txBody>
      </p:sp>
      <p:sp>
        <p:nvSpPr>
          <p:cNvPr id="41" name="Shape 41"/>
          <p:cNvSpPr/>
          <p:nvPr/>
        </p:nvSpPr>
        <p:spPr>
          <a:xfrm>
            <a:off x="685800" y="4859020"/>
            <a:ext cx="24231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2" name="Text 42"/>
          <p:cNvSpPr txBox="1"/>
          <p:nvPr/>
        </p:nvSpPr>
        <p:spPr>
          <a:xfrm>
            <a:off x="685800" y="49047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50" dirty="0"/>
          </a:p>
        </p:txBody>
      </p:sp>
      <p:sp>
        <p:nvSpPr>
          <p:cNvPr id="43" name="Text 43"/>
          <p:cNvSpPr txBox="1"/>
          <p:nvPr/>
        </p:nvSpPr>
        <p:spPr>
          <a:xfrm>
            <a:off x="685800" y="5087620"/>
            <a:ext cx="24231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tab closed &amp; reopened, then no notes/results remain; no raw data in server logs.</a:t>
            </a:r>
            <a:endParaRPr lang="en-US" sz="900" dirty="0"/>
          </a:p>
        </p:txBody>
      </p:sp>
      <p:sp>
        <p:nvSpPr>
          <p:cNvPr id="44" name="Shape 44"/>
          <p:cNvSpPr/>
          <p:nvPr/>
        </p:nvSpPr>
        <p:spPr>
          <a:xfrm>
            <a:off x="3383280" y="3589020"/>
            <a:ext cx="2697480" cy="2034540"/>
          </a:xfrm>
          <a:prstGeom prst="roundRect">
            <a:avLst>
              <a:gd name="adj" fmla="val 3596"/>
            </a:avLst>
          </a:prstGeom>
          <a:solidFill>
            <a:srgbClr val="F5F5F5"/>
          </a:solidFill>
          <a:ln/>
        </p:spPr>
      </p:sp>
      <p:sp>
        <p:nvSpPr>
          <p:cNvPr id="45" name="Shape 45"/>
          <p:cNvSpPr/>
          <p:nvPr/>
        </p:nvSpPr>
        <p:spPr>
          <a:xfrm>
            <a:off x="3383280" y="3589020"/>
            <a:ext cx="2697480" cy="292608"/>
          </a:xfrm>
          <a:prstGeom prst="roundRect">
            <a:avLst>
              <a:gd name="adj" fmla="val 25000"/>
            </a:avLst>
          </a:prstGeom>
          <a:solidFill>
            <a:srgbClr val="172430"/>
          </a:solidFill>
          <a:ln/>
        </p:spPr>
      </p:sp>
      <p:sp>
        <p:nvSpPr>
          <p:cNvPr id="46" name="Text 46"/>
          <p:cNvSpPr txBox="1"/>
          <p:nvPr/>
        </p:nvSpPr>
        <p:spPr>
          <a:xfrm>
            <a:off x="3520440" y="35890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US-6  •  Could</a:t>
            </a:r>
            <a:endParaRPr lang="en-US" sz="1100" dirty="0"/>
          </a:p>
        </p:txBody>
      </p:sp>
      <p:sp>
        <p:nvSpPr>
          <p:cNvPr id="47" name="Text 47"/>
          <p:cNvSpPr txBox="1"/>
          <p:nvPr/>
        </p:nvSpPr>
        <p:spPr>
          <a:xfrm>
            <a:off x="3520440" y="39456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past sessions</a:t>
            </a:r>
            <a:endParaRPr lang="en-US" sz="1300" dirty="0"/>
          </a:p>
        </p:txBody>
      </p:sp>
      <p:sp>
        <p:nvSpPr>
          <p:cNvPr id="48" name="Text 48"/>
          <p:cNvSpPr txBox="1"/>
          <p:nvPr/>
        </p:nvSpPr>
        <p:spPr>
          <a:xfrm>
            <a:off x="3520440" y="42199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tester running back-to-back sessions, I want to glance at earlier analyses, so I don't lose track of findings.</a:t>
            </a:r>
            <a:endParaRPr lang="en-US" sz="1000" dirty="0"/>
          </a:p>
        </p:txBody>
      </p:sp>
      <p:sp>
        <p:nvSpPr>
          <p:cNvPr id="49" name="Shape 49"/>
          <p:cNvSpPr/>
          <p:nvPr/>
        </p:nvSpPr>
        <p:spPr>
          <a:xfrm>
            <a:off x="3520440" y="4859020"/>
            <a:ext cx="24231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0" name="Text 50"/>
          <p:cNvSpPr txBox="1"/>
          <p:nvPr/>
        </p:nvSpPr>
        <p:spPr>
          <a:xfrm>
            <a:off x="3520440" y="49047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50" dirty="0"/>
          </a:p>
        </p:txBody>
      </p:sp>
      <p:sp>
        <p:nvSpPr>
          <p:cNvPr id="51" name="Text 51"/>
          <p:cNvSpPr txBox="1"/>
          <p:nvPr/>
        </p:nvSpPr>
        <p:spPr>
          <a:xfrm>
            <a:off x="3520440" y="5087620"/>
            <a:ext cx="24231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2+ analyses, then History lists each with bug/question counts + timestamp; Clear session history empties the list.</a:t>
            </a:r>
            <a:endParaRPr lang="en-US" sz="900" dirty="0"/>
          </a:p>
        </p:txBody>
      </p:sp>
      <p:sp>
        <p:nvSpPr>
          <p:cNvPr id="52" name="Shape 52"/>
          <p:cNvSpPr/>
          <p:nvPr/>
        </p:nvSpPr>
        <p:spPr>
          <a:xfrm>
            <a:off x="6217920" y="3589020"/>
            <a:ext cx="2697480" cy="2034540"/>
          </a:xfrm>
          <a:prstGeom prst="roundRect">
            <a:avLst>
              <a:gd name="adj" fmla="val 3596"/>
            </a:avLst>
          </a:prstGeom>
          <a:solidFill>
            <a:srgbClr val="F5F5F5"/>
          </a:solidFill>
          <a:ln/>
        </p:spPr>
      </p:sp>
      <p:sp>
        <p:nvSpPr>
          <p:cNvPr id="53" name="Shape 53"/>
          <p:cNvSpPr/>
          <p:nvPr/>
        </p:nvSpPr>
        <p:spPr>
          <a:xfrm>
            <a:off x="6217920" y="3589020"/>
            <a:ext cx="2697480" cy="292608"/>
          </a:xfrm>
          <a:prstGeom prst="roundRect">
            <a:avLst>
              <a:gd name="adj" fmla="val 25000"/>
            </a:avLst>
          </a:prstGeom>
          <a:solidFill>
            <a:srgbClr val="172430"/>
          </a:solidFill>
          <a:ln/>
        </p:spPr>
      </p:sp>
      <p:sp>
        <p:nvSpPr>
          <p:cNvPr id="54" name="Text 54"/>
          <p:cNvSpPr txBox="1"/>
          <p:nvPr/>
        </p:nvSpPr>
        <p:spPr>
          <a:xfrm>
            <a:off x="6355080" y="35890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US-7  •  Should</a:t>
            </a:r>
            <a:endParaRPr lang="en-US" sz="1100" dirty="0"/>
          </a:p>
        </p:txBody>
      </p:sp>
      <p:sp>
        <p:nvSpPr>
          <p:cNvPr id="55" name="Text 55"/>
          <p:cNvSpPr txBox="1"/>
          <p:nvPr/>
        </p:nvSpPr>
        <p:spPr>
          <a:xfrm>
            <a:off x="6355080" y="39456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tool is working</a:t>
            </a:r>
            <a:endParaRPr lang="en-US" sz="1300" dirty="0"/>
          </a:p>
        </p:txBody>
      </p:sp>
      <p:sp>
        <p:nvSpPr>
          <p:cNvPr id="56" name="Text 56"/>
          <p:cNvSpPr txBox="1"/>
          <p:nvPr/>
        </p:nvSpPr>
        <p:spPr>
          <a:xfrm>
            <a:off x="6355080" y="42199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tester starting a session, I want to confirm the backend is reachable, so I don't lose typed notes.</a:t>
            </a:r>
            <a:endParaRPr lang="en-US" sz="1000" dirty="0"/>
          </a:p>
        </p:txBody>
      </p:sp>
      <p:sp>
        <p:nvSpPr>
          <p:cNvPr id="57" name="Shape 57"/>
          <p:cNvSpPr/>
          <p:nvPr/>
        </p:nvSpPr>
        <p:spPr>
          <a:xfrm>
            <a:off x="6355080" y="4859020"/>
            <a:ext cx="24231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8" name="Text 58"/>
          <p:cNvSpPr txBox="1"/>
          <p:nvPr/>
        </p:nvSpPr>
        <p:spPr>
          <a:xfrm>
            <a:off x="6355080" y="49047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50" dirty="0"/>
          </a:p>
        </p:txBody>
      </p:sp>
      <p:sp>
        <p:nvSpPr>
          <p:cNvPr id="59" name="Text 59"/>
          <p:cNvSpPr txBox="1"/>
          <p:nvPr/>
        </p:nvSpPr>
        <p:spPr>
          <a:xfrm>
            <a:off x="6355080" y="5087620"/>
            <a:ext cx="24231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Refresh status, then healthy/failed indicator shown; global status indicator also reflects an unreachable backend.</a:t>
            </a:r>
            <a:endParaRPr lang="en-US" sz="900" dirty="0"/>
          </a:p>
        </p:txBody>
      </p:sp>
      <p:sp>
        <p:nvSpPr>
          <p:cNvPr id="60" name="Shape 60"/>
          <p:cNvSpPr/>
          <p:nvPr/>
        </p:nvSpPr>
        <p:spPr>
          <a:xfrm>
            <a:off x="9052560" y="3589020"/>
            <a:ext cx="2697480" cy="2034540"/>
          </a:xfrm>
          <a:prstGeom prst="roundRect">
            <a:avLst>
              <a:gd name="adj" fmla="val 3596"/>
            </a:avLst>
          </a:prstGeom>
          <a:solidFill>
            <a:srgbClr val="F5F5F5"/>
          </a:solidFill>
          <a:ln/>
        </p:spPr>
      </p:sp>
      <p:sp>
        <p:nvSpPr>
          <p:cNvPr id="61" name="Shape 61"/>
          <p:cNvSpPr/>
          <p:nvPr/>
        </p:nvSpPr>
        <p:spPr>
          <a:xfrm>
            <a:off x="9052560" y="3589020"/>
            <a:ext cx="2697480" cy="292608"/>
          </a:xfrm>
          <a:prstGeom prst="roundRect">
            <a:avLst>
              <a:gd name="adj" fmla="val 25000"/>
            </a:avLst>
          </a:prstGeom>
          <a:solidFill>
            <a:srgbClr val="172430"/>
          </a:solidFill>
          <a:ln/>
        </p:spPr>
      </p:sp>
      <p:sp>
        <p:nvSpPr>
          <p:cNvPr id="62" name="Text 62"/>
          <p:cNvSpPr txBox="1"/>
          <p:nvPr/>
        </p:nvSpPr>
        <p:spPr>
          <a:xfrm>
            <a:off x="9189720" y="35890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US-8  •  Should</a:t>
            </a:r>
            <a:endParaRPr lang="en-US" sz="1100" dirty="0"/>
          </a:p>
        </p:txBody>
      </p:sp>
      <p:sp>
        <p:nvSpPr>
          <p:cNvPr id="63" name="Text 63"/>
          <p:cNvSpPr txBox="1"/>
          <p:nvPr/>
        </p:nvSpPr>
        <p:spPr>
          <a:xfrm>
            <a:off x="9189720" y="39456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any session length</a:t>
            </a:r>
            <a:endParaRPr lang="en-US" sz="1300" dirty="0"/>
          </a:p>
        </p:txBody>
      </p:sp>
      <p:sp>
        <p:nvSpPr>
          <p:cNvPr id="64" name="Text 64"/>
          <p:cNvSpPr txBox="1"/>
          <p:nvPr/>
        </p:nvSpPr>
        <p:spPr>
          <a:xfrm>
            <a:off x="9189720" y="421995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tester with a long session, I want no arbitrary line cap, so the summary covers all my notes.</a:t>
            </a:r>
            <a:endParaRPr lang="en-US" sz="1000" dirty="0"/>
          </a:p>
        </p:txBody>
      </p:sp>
      <p:sp>
        <p:nvSpPr>
          <p:cNvPr id="65" name="Shape 65"/>
          <p:cNvSpPr/>
          <p:nvPr/>
        </p:nvSpPr>
        <p:spPr>
          <a:xfrm>
            <a:off x="9189720" y="4859020"/>
            <a:ext cx="242316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66" name="Text 66"/>
          <p:cNvSpPr txBox="1"/>
          <p:nvPr/>
        </p:nvSpPr>
        <p:spPr>
          <a:xfrm>
            <a:off x="9189720" y="4904740"/>
            <a:ext cx="2423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850" dirty="0"/>
          </a:p>
        </p:txBody>
      </p:sp>
      <p:sp>
        <p:nvSpPr>
          <p:cNvPr id="67" name="Text 67"/>
          <p:cNvSpPr txBox="1"/>
          <p:nvPr/>
        </p:nvSpPr>
        <p:spPr>
          <a:xfrm>
            <a:off x="9189720" y="5087620"/>
            <a:ext cx="24231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&lt;20 chars, then rejected before any API call; &gt;15,000 chars, then asked to split; 50+ lines processed, no silent truncation.</a:t>
            </a:r>
            <a:endParaRPr lang="en-US" sz="900" dirty="0"/>
          </a:p>
        </p:txBody>
      </p:sp>
      <p:sp>
        <p:nvSpPr>
          <p:cNvPr id="68" name="Text 26"/>
          <p:cNvSpPr txBox="1"/>
          <p:nvPr/>
        </p:nvSpPr>
        <p:spPr>
          <a:xfrm>
            <a:off x="548640" y="576072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(MoSCoW):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= safety checks + core pipeline (a tool that fabricates bugs or leaks data is worse than useless). Should-have = coverage gaps, health check. Could-have = export, history — valuable but not blocking.</a:t>
            </a:r>
            <a:endParaRPr lang="en-US" sz="1200" dirty="0"/>
          </a:p>
        </p:txBody>
      </p:sp>
      <p:sp>
        <p:nvSpPr>
          <p:cNvPr id="69" name="Text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Insight Workspace  | Final Round</a:t>
            </a:r>
            <a:endParaRPr lang="en-US" sz="1000" dirty="0"/>
          </a:p>
        </p:txBody>
      </p:sp>
      <p:sp>
        <p:nvSpPr>
          <p:cNvPr id="70" name="Text 2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Solution Design &amp;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5875">
            <a:solidFill>
              <a:srgbClr val="172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HTML/CSS/JS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Vercel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sessionStorage only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41732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172430"/>
          </a:solidFill>
          <a:ln w="15875">
            <a:solidFill>
              <a:srgbClr val="172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guardrails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778240" y="141732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15875">
            <a:solidFill>
              <a:srgbClr val="172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1540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3.8-27B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 inference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1965960"/>
            <a:ext cx="1280160" cy="274320"/>
          </a:xfrm>
          <a:prstGeom prst="rightArrow">
            <a:avLst/>
          </a:prstGeom>
          <a:solidFill>
            <a:srgbClr val="FBBF24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1965960"/>
            <a:ext cx="1280160" cy="274320"/>
          </a:xfrm>
          <a:prstGeom prst="rightArrow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Why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1724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for concurrent requests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1724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schema — no malformed output trusted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1724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Qwen 3.8-27B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7180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LPU inference, reliable JSON-following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17243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892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(static)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971800" y="4892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scales independently of backend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03920" y="3108960"/>
            <a:ext cx="3108960" cy="2697480"/>
          </a:xfrm>
          <a:prstGeom prst="roundRect">
            <a:avLst>
              <a:gd name="adj" fmla="val 2712"/>
            </a:avLst>
          </a:prstGeom>
          <a:solidFill>
            <a:srgbClr val="FFF7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Scale Notes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356616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server-side data retention by design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guardrails block token-exhaustion abuse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FastAPI handles concurrent testers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gap: CORS open for demo — would restrict in production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Insight Workspace  | Final Round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SDLC Thinking &amp; Execution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02436" y="155448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0243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56616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56616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+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test-idea tags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23744" y="1719072"/>
            <a:ext cx="283464" cy="274320"/>
          </a:xfrm>
          <a:prstGeom prst="rightArrow">
            <a:avLst/>
          </a:prstGeom>
          <a:solidFill>
            <a:srgbClr val="D1D5DB"/>
          </a:solidFill>
          <a:ln/>
        </p:spPr>
      </p:sp>
      <p:sp>
        <p:nvSpPr>
          <p:cNvPr id="8" name="Shape 6"/>
          <p:cNvSpPr/>
          <p:nvPr/>
        </p:nvSpPr>
        <p:spPr>
          <a:xfrm>
            <a:off x="3488436" y="155448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8843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42616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42616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and back end kept apart,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 planned first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9744" y="1719072"/>
            <a:ext cx="283464" cy="274320"/>
          </a:xfrm>
          <a:prstGeom prst="rightArrow">
            <a:avLst/>
          </a:prstGeom>
          <a:solidFill>
            <a:srgbClr val="D1D5DB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4436" y="155448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7443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928616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28616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flow → safety checks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→ screen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95744" y="1719072"/>
            <a:ext cx="283464" cy="274320"/>
          </a:xfrm>
          <a:prstGeom prst="rightArrow">
            <a:avLst/>
          </a:prstGeom>
          <a:solidFill>
            <a:srgbClr val="D1D5DB"/>
          </a:solidFill>
          <a:ln/>
        </p:spPr>
      </p:sp>
      <p:sp>
        <p:nvSpPr>
          <p:cNvPr id="18" name="Shape 16"/>
          <p:cNvSpPr/>
          <p:nvPr/>
        </p:nvSpPr>
        <p:spPr>
          <a:xfrm>
            <a:off x="8060436" y="155448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6043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14616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14616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(pytest)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running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81744" y="1719072"/>
            <a:ext cx="283464" cy="274320"/>
          </a:xfrm>
          <a:prstGeom prst="rightArrow">
            <a:avLst/>
          </a:prstGeom>
          <a:solidFill>
            <a:srgbClr val="D1D5D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46436" y="155448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34643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500616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500616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Read-me, known limits,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live, demo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566160"/>
            <a:ext cx="11064240" cy="2514600"/>
          </a:xfrm>
          <a:prstGeom prst="roundRect">
            <a:avLst>
              <a:gd name="adj" fmla="val 2909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3749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approach: each phase had its own git commit, and I kept the work inside the time limit (a simple Kanban habit: To do → In progress → Done for each phase).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4343400"/>
            <a:ext cx="10515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480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was used vs. what I checked by hand: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00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standard FastAPI/Pydantic starter code, and trying out different prompt wording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 hand: I tried to trick the safety check with a “keyword trap” (biology-lab text using “bug”) to confirm it understands meaning, not just keywords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by me: severity as a fixed list of choices (not free text), plus the CORS and storage security setup — choices I made on purpose, not AI defaults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Insight Workspace  | Final Round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Testing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9784080" cy="566928"/>
          </a:xfrm>
          <a:prstGeom prst="rect">
            <a:avLst/>
          </a:prstGeom>
          <a:solidFill>
            <a:srgbClr val="1724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12344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01368"/>
            <a:ext cx="9784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11096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9110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180136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notes → correctly structured 3-part output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68296"/>
            <a:ext cx="97840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78024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478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236829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 → 400 Bad Request, no API call made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35224"/>
            <a:ext cx="9784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44952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0449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293522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text (recipe) → is_testing_notes: false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502152"/>
            <a:ext cx="97840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6118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BBF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611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35021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Keyword-trap text → correctly rejected on semantic grounds, not keyword match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9784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178808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BBF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1788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4069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Malformed/truncated LLM JSON → caught by try/except, graceful fallback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636008"/>
            <a:ext cx="97840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745736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BBF2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7457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331720" y="463600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line session → processes fully, no silent truncation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covered: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pytest suite (4/4 passing) using FastAPI's TestClient  •  manual test matrix TC-001–TC-006  •  Postman collection with 6 requests and built-in assertions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Insight Workspace  | Final Round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Evidence of Quality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solution was validated, not just developed: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9092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9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5544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— 4/4 passing, screenshot captured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879092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879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5544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matrix (TC-001–TC-006)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204972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2049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8803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rejection screenshots (recipe + keyword-trap cases)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8803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204972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2049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8803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collection — 6 requests, built-in assertions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530852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5308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062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input/output pairs (raw notes → structured report)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2062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530852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45308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2062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defect found &amp; fixed during development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Insight Workspace  | Final Round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Product Demo — End-to-End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02436" y="160020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0243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56616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notes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23744" y="1764792"/>
            <a:ext cx="283464" cy="274320"/>
          </a:xfrm>
          <a:prstGeom prst="rightArrow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3488436" y="160020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8843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642616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“Generate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9744" y="1764792"/>
            <a:ext cx="283464" cy="274320"/>
          </a:xfrm>
          <a:prstGeom prst="rightArrow">
            <a:avLst/>
          </a:prstGeom>
          <a:solidFill>
            <a:srgbClr val="FBBF24"/>
          </a:solidFill>
          <a:ln/>
        </p:spPr>
      </p:sp>
      <p:sp>
        <p:nvSpPr>
          <p:cNvPr id="11" name="Shape 9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7443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3-part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95744" y="1764792"/>
            <a:ext cx="283464" cy="274320"/>
          </a:xfrm>
          <a:prstGeom prst="rightArrow">
            <a:avLst/>
          </a:prstGeom>
          <a:solidFill>
            <a:srgbClr val="FBBF24"/>
          </a:solidFill>
          <a:ln/>
        </p:spPr>
      </p:sp>
      <p:sp>
        <p:nvSpPr>
          <p:cNvPr id="15" name="Shape 13"/>
          <p:cNvSpPr/>
          <p:nvPr/>
        </p:nvSpPr>
        <p:spPr>
          <a:xfrm>
            <a:off x="8060436" y="160020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6043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214616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guardrail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(reject junk)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81744" y="1764792"/>
            <a:ext cx="283464" cy="274320"/>
          </a:xfrm>
          <a:prstGeom prst="rightArrow">
            <a:avLst/>
          </a:prstGeom>
          <a:solidFill>
            <a:srgbClr val="FBBF2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346436" y="160020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34643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500616" y="2377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(PDF/MD/TXT/JSON)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FF7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474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about what's incomplete (stated proactively, not hidden):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8862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or per-user rate limiting yet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currently open for demo convenience, not production-locked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history across sessions/devices — a deliberate privacy trade-off, but also a real limitation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and root-cause are AI-suggested hypotheses, not authoritative — a human reviews before acting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Insight Workspace  | Final Round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Reflection &amp; Ownership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7E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024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Jira/tracker integration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Multi-session history persistence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image input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0" y="1051560"/>
            <a:ext cx="0" cy="1005840"/>
          </a:xfrm>
          <a:prstGeom prst="line">
            <a:avLst/>
          </a:prstGeom>
          <a:noFill/>
          <a:ln w="12700">
            <a:solidFill>
              <a:srgbClr val="E8D9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2200" y="102412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CONSTRAINTS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298448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Good-faith input assumed  •  One bounded session at a time   •  One core AI technique only  •  Sample/static data only, no live production access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4688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made (time box)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16352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persistence over a “nice to have” history feature — chose the privacy guarantee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call/technique instead of a multi-step agentic pipeline — traded sophistication for reliability, speed, and testability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33172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4688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with more time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816352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CORS, add auth + rate limiting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encrypted persistent history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Jira/GitHub Issues export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support for very long sessions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724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used AI assistance for scaffolding and iteration speed, but the architecture decisions, the guardrail design, the security trade-offs, and the test strategy were mine — and I validated the AI's own output adversarially rather than trusting it, the same discipline the tool itself is designed to bring to a tester's raw notes.”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Insight Workspace  | Final Round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50292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time formatting.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time actually testing.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Insight Workspace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8288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688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E162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78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DEPLOYED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1E2E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566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FULL DEMO VIDEO  —  click the player to the right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answer any questions.</a:t>
            </a:r>
            <a:endParaRPr lang="en-US" sz="13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18111" y="994752"/>
            <a:ext cx="6248011" cy="511175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92240" y="6126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recording</a:t>
            </a:r>
            <a:endParaRPr lang="en-US" sz="1000" dirty="0"/>
          </a:p>
        </p:txBody>
      </p:sp>
      <p:sp>
        <p:nvSpPr>
          <p:cNvPr id="16" name="Text 7">
            <a:hlinkClick r:id="rId6" tooltip="Open live app"/>
            <a:extLst>
              <a:ext uri="{FF2B5EF4-FFF2-40B4-BE49-F238E27FC236}">
                <a16:creationId xmlns:a16="http://schemas.microsoft.com/office/drawing/2014/main" id="{464E3918-24FF-3807-A0D1-538E8F59813E}"/>
              </a:ext>
            </a:extLst>
          </p:cNvPr>
          <p:cNvSpPr txBox="1"/>
          <p:nvPr/>
        </p:nvSpPr>
        <p:spPr>
          <a:xfrm>
            <a:off x="984089" y="28529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hlinkClick r:id="rId7"/>
              </a:rPr>
              <a:t>QA Insight Workspace</a:t>
            </a:r>
            <a:endParaRPr lang="en-I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2139</Words>
  <Application>Microsoft Office PowerPoint</Application>
  <PresentationFormat>Widescreen</PresentationFormat>
  <Paragraphs>243</Paragraphs>
  <Slides>11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 yashaswini</cp:lastModifiedBy>
  <cp:revision>13</cp:revision>
  <dcterms:created xsi:type="dcterms:W3CDTF">2026-09-19T13:21:19Z</dcterms:created>
  <dcterms:modified xsi:type="dcterms:W3CDTF">2026-09-23T13:59:14Z</dcterms:modified>
</cp:coreProperties>
</file>